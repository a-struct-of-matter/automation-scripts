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78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F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8000" y="0"/>
                </a:moveTo>
                <a:lnTo>
                  <a:pt x="0" y="0"/>
                </a:lnTo>
                <a:lnTo>
                  <a:pt x="0" y="1028700"/>
                </a:lnTo>
                <a:lnTo>
                  <a:pt x="18288000" y="10287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52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8288000" cy="1696720"/>
          </a:xfrm>
          <a:custGeom>
            <a:avLst/>
            <a:gdLst/>
            <a:ahLst/>
            <a:cxnLst/>
            <a:rect l="l" t="t" r="r" b="b"/>
            <a:pathLst>
              <a:path w="18288000" h="1696720">
                <a:moveTo>
                  <a:pt x="0" y="1696211"/>
                </a:moveTo>
                <a:lnTo>
                  <a:pt x="18288000" y="1696211"/>
                </a:lnTo>
                <a:lnTo>
                  <a:pt x="18288000" y="0"/>
                </a:lnTo>
                <a:lnTo>
                  <a:pt x="0" y="0"/>
                </a:lnTo>
                <a:lnTo>
                  <a:pt x="0" y="1696211"/>
                </a:lnTo>
                <a:close/>
              </a:path>
            </a:pathLst>
          </a:custGeom>
          <a:solidFill>
            <a:srgbClr val="152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4960" y="223215"/>
            <a:ext cx="12219305" cy="11351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52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3752"/>
            <a:ext cx="18288000" cy="54132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402835" y="0"/>
            <a:ext cx="9850120" cy="3122930"/>
            <a:chOff x="4402835" y="0"/>
            <a:chExt cx="9850120" cy="3122930"/>
          </a:xfrm>
        </p:grpSpPr>
        <p:sp>
          <p:nvSpPr>
            <p:cNvPr id="5" name="object 5"/>
            <p:cNvSpPr/>
            <p:nvPr/>
          </p:nvSpPr>
          <p:spPr>
            <a:xfrm>
              <a:off x="6397751" y="0"/>
              <a:ext cx="5492750" cy="2174875"/>
            </a:xfrm>
            <a:custGeom>
              <a:avLst/>
              <a:gdLst/>
              <a:ahLst/>
              <a:cxnLst/>
              <a:rect l="l" t="t" r="r" b="b"/>
              <a:pathLst>
                <a:path w="5492750" h="2174875">
                  <a:moveTo>
                    <a:pt x="5492496" y="0"/>
                  </a:moveTo>
                  <a:lnTo>
                    <a:pt x="0" y="0"/>
                  </a:lnTo>
                  <a:lnTo>
                    <a:pt x="0" y="1639443"/>
                  </a:lnTo>
                  <a:lnTo>
                    <a:pt x="2618" y="1692355"/>
                  </a:lnTo>
                  <a:lnTo>
                    <a:pt x="10378" y="1744370"/>
                  </a:lnTo>
                  <a:lnTo>
                    <a:pt x="23132" y="1795138"/>
                  </a:lnTo>
                  <a:lnTo>
                    <a:pt x="40735" y="1844309"/>
                  </a:lnTo>
                  <a:lnTo>
                    <a:pt x="63041" y="1891534"/>
                  </a:lnTo>
                  <a:lnTo>
                    <a:pt x="89904" y="1936462"/>
                  </a:lnTo>
                  <a:lnTo>
                    <a:pt x="121178" y="1978744"/>
                  </a:lnTo>
                  <a:lnTo>
                    <a:pt x="156718" y="2018029"/>
                  </a:lnTo>
                  <a:lnTo>
                    <a:pt x="196003" y="2053569"/>
                  </a:lnTo>
                  <a:lnTo>
                    <a:pt x="238283" y="2084843"/>
                  </a:lnTo>
                  <a:lnTo>
                    <a:pt x="283207" y="2111706"/>
                  </a:lnTo>
                  <a:lnTo>
                    <a:pt x="330422" y="2134012"/>
                  </a:lnTo>
                  <a:lnTo>
                    <a:pt x="379578" y="2151615"/>
                  </a:lnTo>
                  <a:lnTo>
                    <a:pt x="430323" y="2164369"/>
                  </a:lnTo>
                  <a:lnTo>
                    <a:pt x="482307" y="2172129"/>
                  </a:lnTo>
                  <a:lnTo>
                    <a:pt x="535177" y="2174748"/>
                  </a:lnTo>
                  <a:lnTo>
                    <a:pt x="4957318" y="2174748"/>
                  </a:lnTo>
                  <a:lnTo>
                    <a:pt x="5006023" y="2172560"/>
                  </a:lnTo>
                  <a:lnTo>
                    <a:pt x="5053505" y="2166124"/>
                  </a:lnTo>
                  <a:lnTo>
                    <a:pt x="5099575" y="2155627"/>
                  </a:lnTo>
                  <a:lnTo>
                    <a:pt x="5144042" y="2141259"/>
                  </a:lnTo>
                  <a:lnTo>
                    <a:pt x="5186718" y="2123209"/>
                  </a:lnTo>
                  <a:lnTo>
                    <a:pt x="5227414" y="2101666"/>
                  </a:lnTo>
                  <a:lnTo>
                    <a:pt x="5265940" y="2076818"/>
                  </a:lnTo>
                  <a:lnTo>
                    <a:pt x="5302109" y="2048855"/>
                  </a:lnTo>
                  <a:lnTo>
                    <a:pt x="5335730" y="2017966"/>
                  </a:lnTo>
                  <a:lnTo>
                    <a:pt x="5366615" y="1984339"/>
                  </a:lnTo>
                  <a:lnTo>
                    <a:pt x="5394574" y="1948163"/>
                  </a:lnTo>
                  <a:lnTo>
                    <a:pt x="5419419" y="1909628"/>
                  </a:lnTo>
                  <a:lnTo>
                    <a:pt x="5440960" y="1868922"/>
                  </a:lnTo>
                  <a:lnTo>
                    <a:pt x="5459009" y="1826234"/>
                  </a:lnTo>
                  <a:lnTo>
                    <a:pt x="5473376" y="1781753"/>
                  </a:lnTo>
                  <a:lnTo>
                    <a:pt x="5483872" y="1735668"/>
                  </a:lnTo>
                  <a:lnTo>
                    <a:pt x="5490308" y="1688168"/>
                  </a:lnTo>
                  <a:lnTo>
                    <a:pt x="5492496" y="1639443"/>
                  </a:lnTo>
                  <a:lnTo>
                    <a:pt x="5492496" y="0"/>
                  </a:lnTo>
                  <a:close/>
                </a:path>
              </a:pathLst>
            </a:custGeom>
            <a:solidFill>
              <a:srgbClr val="152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7215" y="0"/>
              <a:ext cx="5285232" cy="31226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2835" y="743712"/>
              <a:ext cx="4981956" cy="12344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16933" y="2434844"/>
            <a:ext cx="9999980" cy="20890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IN" sz="10500" dirty="0" err="1"/>
              <a:t>AutoNet</a:t>
            </a:r>
            <a:br>
              <a:rPr lang="en-IN" sz="10500" dirty="0"/>
            </a:br>
            <a:r>
              <a:rPr lang="en-IN" sz="3000" dirty="0"/>
              <a:t>Community Driven Intelligent Vehicle System</a:t>
            </a:r>
            <a:endParaRPr sz="3000" dirty="0"/>
          </a:p>
        </p:txBody>
      </p:sp>
      <p:sp>
        <p:nvSpPr>
          <p:cNvPr id="9" name="object 9"/>
          <p:cNvSpPr txBox="1"/>
          <p:nvPr/>
        </p:nvSpPr>
        <p:spPr>
          <a:xfrm>
            <a:off x="7696201" y="6312919"/>
            <a:ext cx="2400362" cy="209352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5"/>
              </a:spcBef>
            </a:pPr>
            <a:r>
              <a:rPr sz="1750" b="1" spc="75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endParaRPr sz="1750" dirty="0">
              <a:latin typeface="Trebuchet MS"/>
              <a:cs typeface="Trebuchet MS"/>
            </a:endParaRPr>
          </a:p>
          <a:p>
            <a:pPr marL="50800" algn="ctr">
              <a:lnSpc>
                <a:spcPct val="100000"/>
              </a:lnSpc>
            </a:pPr>
            <a:r>
              <a:rPr lang="en-IN" sz="2150" b="1" spc="204" dirty="0" err="1">
                <a:solidFill>
                  <a:srgbClr val="FFFFFF"/>
                </a:solidFill>
                <a:latin typeface="Trebuchet MS"/>
                <a:cs typeface="Trebuchet MS"/>
              </a:rPr>
              <a:t>J.Revanth</a:t>
            </a:r>
            <a:endParaRPr sz="2150" dirty="0">
              <a:latin typeface="Trebuchet MS"/>
              <a:cs typeface="Trebuchet MS"/>
            </a:endParaRPr>
          </a:p>
          <a:p>
            <a:pPr marL="15240" algn="ctr">
              <a:lnSpc>
                <a:spcPct val="100000"/>
              </a:lnSpc>
              <a:spcBef>
                <a:spcPts val="425"/>
              </a:spcBef>
            </a:pPr>
            <a:r>
              <a:rPr lang="en-IN" sz="2150" b="1" spc="204" dirty="0" err="1">
                <a:solidFill>
                  <a:srgbClr val="FFFFFF"/>
                </a:solidFill>
                <a:latin typeface="Trebuchet MS"/>
                <a:cs typeface="Trebuchet MS"/>
              </a:rPr>
              <a:t>P.Harshith</a:t>
            </a:r>
            <a:br>
              <a:rPr lang="en-IN" sz="2150" b="1" spc="204" dirty="0">
                <a:solidFill>
                  <a:srgbClr val="FFFFFF"/>
                </a:solidFill>
                <a:latin typeface="Trebuchet MS"/>
                <a:cs typeface="Trebuchet MS"/>
              </a:rPr>
            </a:br>
            <a:r>
              <a:rPr lang="en-IN" sz="2150" b="1" spc="204" dirty="0" err="1">
                <a:solidFill>
                  <a:srgbClr val="FFFFFF"/>
                </a:solidFill>
                <a:latin typeface="Trebuchet MS"/>
                <a:cs typeface="Trebuchet MS"/>
              </a:rPr>
              <a:t>P.Kalyan</a:t>
            </a:r>
            <a:endParaRPr lang="en-IN" sz="2150" b="1" spc="204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15240" algn="ctr">
              <a:lnSpc>
                <a:spcPct val="100000"/>
              </a:lnSpc>
              <a:spcBef>
                <a:spcPts val="425"/>
              </a:spcBef>
            </a:pPr>
            <a:r>
              <a:rPr lang="en-IN" sz="2150" b="1" spc="204" dirty="0" err="1">
                <a:solidFill>
                  <a:srgbClr val="FFFFFF"/>
                </a:solidFill>
                <a:latin typeface="Trebuchet MS"/>
                <a:cs typeface="Trebuchet MS"/>
              </a:rPr>
              <a:t>K.Bhanu</a:t>
            </a:r>
            <a:r>
              <a:rPr lang="en-IN" sz="2150" b="1" spc="204" dirty="0">
                <a:solidFill>
                  <a:srgbClr val="FFFFFF"/>
                </a:solidFill>
                <a:latin typeface="Trebuchet MS"/>
                <a:cs typeface="Trebuchet MS"/>
              </a:rPr>
              <a:t> Satish</a:t>
            </a:r>
            <a:endParaRPr sz="2150" dirty="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420"/>
              </a:spcBef>
            </a:pPr>
            <a:endParaRPr sz="215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370" y="4783846"/>
            <a:ext cx="4253230" cy="133241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lang="en-IN" sz="4500" b="1" spc="315" dirty="0" err="1">
                <a:solidFill>
                  <a:srgbClr val="FFFFFF"/>
                </a:solidFill>
                <a:latin typeface="Trebuchet MS"/>
                <a:cs typeface="Trebuchet MS"/>
              </a:rPr>
              <a:t>TechGravitas</a:t>
            </a:r>
            <a:endParaRPr lang="en-IN" sz="4500" b="1" spc="31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lang="en-IN" sz="3350" b="1" spc="110" dirty="0">
                <a:solidFill>
                  <a:srgbClr val="FFFFFF"/>
                </a:solidFill>
                <a:latin typeface="Trebuchet MS"/>
                <a:cs typeface="Trebuchet MS"/>
              </a:rPr>
              <a:t>Open Innovation</a:t>
            </a:r>
            <a:endParaRPr lang="en-IN" sz="3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FEB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925830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8000" y="0"/>
                </a:moveTo>
                <a:lnTo>
                  <a:pt x="0" y="0"/>
                </a:lnTo>
                <a:lnTo>
                  <a:pt x="0" y="1028700"/>
                </a:lnTo>
                <a:lnTo>
                  <a:pt x="18288000" y="10287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52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8288000" cy="1696720"/>
            </a:xfrm>
            <a:custGeom>
              <a:avLst/>
              <a:gdLst/>
              <a:ahLst/>
              <a:cxnLst/>
              <a:rect l="l" t="t" r="r" b="b"/>
              <a:pathLst>
                <a:path w="18288000" h="1696720">
                  <a:moveTo>
                    <a:pt x="0" y="1696211"/>
                  </a:moveTo>
                  <a:lnTo>
                    <a:pt x="18288000" y="169621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696211"/>
                  </a:lnTo>
                  <a:close/>
                </a:path>
              </a:pathLst>
            </a:custGeom>
            <a:solidFill>
              <a:srgbClr val="152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6" y="0"/>
              <a:ext cx="3742944" cy="22768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3584" y="472440"/>
              <a:ext cx="6353556" cy="981455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588" rIns="0" bIns="0" rtlCol="0">
            <a:spAutoFit/>
          </a:bodyPr>
          <a:lstStyle/>
          <a:p>
            <a:pPr marL="2337435">
              <a:lnSpc>
                <a:spcPct val="100000"/>
              </a:lnSpc>
              <a:spcBef>
                <a:spcPts val="105"/>
              </a:spcBef>
            </a:pPr>
            <a:r>
              <a:rPr spc="315" dirty="0"/>
              <a:t>PROBLEM</a:t>
            </a:r>
            <a:r>
              <a:rPr spc="-440" dirty="0"/>
              <a:t> </a:t>
            </a:r>
            <a:r>
              <a:rPr spc="265" dirty="0"/>
              <a:t>STATEMENT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492855" y="9336323"/>
            <a:ext cx="828675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200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A15C1-2B58-8C40-D552-83D32FC6D753}"/>
              </a:ext>
            </a:extLst>
          </p:cNvPr>
          <p:cNvSpPr txBox="1"/>
          <p:nvPr/>
        </p:nvSpPr>
        <p:spPr>
          <a:xfrm>
            <a:off x="914400" y="2045293"/>
            <a:ext cx="1775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BA506CA-C11A-8743-C089-B5DD2FE05E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9438" y="1957006"/>
            <a:ext cx="17346561" cy="6539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Urban road infrastructure in India is unable to accommodate rapidly growing traffic demands, leading to frequent congestion, increased safety risks, and operational inefficiencies.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Illegal and unregulated parking on narrow urban streets significantly reduces road capacity, often obstructing traffic flow and causing critical delays, especially for emergency service vehicles.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Additionally, incidents such as vehicle vandalism and hit-and-run collisions frequently go unnoticed or remain untraceable due to the lack of real-time monitoring and post-incident verification mechanisms.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Existing traffic and vehicle monitoring systems operate in isolation and do not support real-time, vehicle-to-vehicle collaboration.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There is currently no affordable, community-driven intelligence system that enables vehicles to collectively identify, communicate, and respond to real-time road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91105">
              <a:lnSpc>
                <a:spcPct val="100000"/>
              </a:lnSpc>
              <a:spcBef>
                <a:spcPts val="110"/>
              </a:spcBef>
            </a:pPr>
            <a:r>
              <a:rPr spc="310" dirty="0"/>
              <a:t>PROPOSED</a:t>
            </a:r>
            <a:r>
              <a:rPr spc="-465" dirty="0"/>
              <a:t> </a:t>
            </a:r>
            <a:r>
              <a:rPr spc="140" dirty="0"/>
              <a:t>SOLUTION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492855" y="9336323"/>
            <a:ext cx="830580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200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4AB64-A6E9-07DD-9030-EBBBEAFF3DDD}"/>
              </a:ext>
            </a:extLst>
          </p:cNvPr>
          <p:cNvSpPr txBox="1"/>
          <p:nvPr/>
        </p:nvSpPr>
        <p:spPr>
          <a:xfrm>
            <a:off x="366487" y="1918052"/>
            <a:ext cx="16687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OBJECTIVES: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Transform any vehicle into a smart, connected vehicle at low cost.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 real-time road intelligence sharing between vehicles.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 road safety, accountability, and emergency response.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IN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F7F3A7B5-456B-951A-7848-27078D6D8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36" y="4305300"/>
            <a:ext cx="693010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Illegal parking &amp; congestion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Collision detection while vehicle is parked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Vehicle-to-vehicle incident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and accident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Community-based verification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328ED9-0211-2BE9-F50B-90ECACA35419}"/>
              </a:ext>
            </a:extLst>
          </p:cNvPr>
          <p:cNvSpPr txBox="1"/>
          <p:nvPr/>
        </p:nvSpPr>
        <p:spPr>
          <a:xfrm rot="10800000" flipH="1" flipV="1">
            <a:off x="304800" y="6530995"/>
            <a:ext cx="1051182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WORKFLOW(High Level):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Vehicle-mounted device collects sensor &amp; location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Events are locally validated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is shared with nearby vehicles &amp; backend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Community validation confirms incidents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Alerts are sent to users and authorities (conditional checks)</a:t>
            </a:r>
          </a:p>
          <a:p>
            <a:endParaRPr lang="en-IN" dirty="0"/>
          </a:p>
        </p:txBody>
      </p:sp>
      <p:grpSp>
        <p:nvGrpSpPr>
          <p:cNvPr id="19" name="object 2">
            <a:extLst>
              <a:ext uri="{FF2B5EF4-FFF2-40B4-BE49-F238E27FC236}">
                <a16:creationId xmlns:a16="http://schemas.microsoft.com/office/drawing/2014/main" id="{33108834-7999-E473-AFBB-E277D2A13EAA}"/>
              </a:ext>
            </a:extLst>
          </p:cNvPr>
          <p:cNvGrpSpPr/>
          <p:nvPr/>
        </p:nvGrpSpPr>
        <p:grpSpPr>
          <a:xfrm>
            <a:off x="4464592" y="-238830"/>
            <a:ext cx="13456921" cy="10286993"/>
            <a:chOff x="4831079" y="0"/>
            <a:chExt cx="13456921" cy="10286993"/>
          </a:xfrm>
        </p:grpSpPr>
        <p:pic>
          <p:nvPicPr>
            <p:cNvPr id="20" name="object 3">
              <a:extLst>
                <a:ext uri="{FF2B5EF4-FFF2-40B4-BE49-F238E27FC236}">
                  <a16:creationId xmlns:a16="http://schemas.microsoft.com/office/drawing/2014/main" id="{E39AC6AE-1452-DE06-CBC7-D1C8472A85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6" y="0"/>
              <a:ext cx="3742944" cy="2276855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B984FA37-3D06-1E22-5001-6161BFF6281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79" y="452627"/>
              <a:ext cx="6352032" cy="983436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03029B-DC2B-92F1-E44B-A6FAEF9A52EF}"/>
              </a:ext>
            </a:extLst>
          </p:cNvPr>
          <p:cNvSpPr txBox="1"/>
          <p:nvPr/>
        </p:nvSpPr>
        <p:spPr>
          <a:xfrm>
            <a:off x="381235" y="3827502"/>
            <a:ext cx="3505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KEY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656" y="-98438"/>
            <a:ext cx="17701834" cy="10162223"/>
            <a:chOff x="586166" y="0"/>
            <a:chExt cx="17701834" cy="1016222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6" y="0"/>
              <a:ext cx="3742944" cy="2276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66" y="1836317"/>
              <a:ext cx="2881503" cy="609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624" y="4176367"/>
              <a:ext cx="4537456" cy="609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166" y="6643125"/>
              <a:ext cx="2426843" cy="609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9457" y="323285"/>
              <a:ext cx="6352032" cy="983893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486759" y="9336323"/>
            <a:ext cx="842644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26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482" rIns="0" bIns="0" rtlCol="0">
            <a:spAutoFit/>
          </a:bodyPr>
          <a:lstStyle/>
          <a:p>
            <a:pPr marL="4098925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TECH</a:t>
            </a:r>
            <a:r>
              <a:rPr spc="-459" dirty="0"/>
              <a:t> </a:t>
            </a:r>
            <a:r>
              <a:rPr spc="330" dirty="0"/>
              <a:t>STACK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11E23D2-6BAF-B33C-D61A-E5C679190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43" y="2402306"/>
            <a:ext cx="616707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WebApp (Android / Web Dashboard)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 &amp;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Map-based visualization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A96D8-EABC-FEFF-BF20-7F401D27988D}"/>
              </a:ext>
            </a:extLst>
          </p:cNvPr>
          <p:cNvSpPr txBox="1"/>
          <p:nvPr/>
        </p:nvSpPr>
        <p:spPr>
          <a:xfrm>
            <a:off x="542243" y="4826513"/>
            <a:ext cx="6588663" cy="1967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0537457C-4D6B-C853-AB6F-2EE61FBF8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43" y="4847151"/>
            <a:ext cx="650370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/ Django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/ 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hosting (AWS / Firebase/ Azure)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47DB6E3C-5768-A85F-56C4-C4DECA59D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43" y="7155918"/>
            <a:ext cx="905895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sensors (Accelerometer, Noise Sensor, GPS)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V2D / V2V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RFID integration (vehicle identity)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correlation &amp; rule-based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9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65" dirty="0"/>
              <a:t>UNIQUE</a:t>
            </a:r>
            <a:r>
              <a:rPr spc="-455" dirty="0"/>
              <a:t> </a:t>
            </a:r>
            <a:r>
              <a:rPr spc="204" dirty="0"/>
              <a:t>SELLING</a:t>
            </a:r>
            <a:r>
              <a:rPr spc="-450" dirty="0"/>
              <a:t> </a:t>
            </a:r>
            <a:r>
              <a:rPr spc="204" dirty="0"/>
              <a:t>PROPOSITION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316" y="219964"/>
            <a:ext cx="17664684" cy="2276855"/>
            <a:chOff x="623315" y="0"/>
            <a:chExt cx="17664684" cy="2276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5" y="0"/>
              <a:ext cx="3742944" cy="2276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315" y="1666951"/>
              <a:ext cx="3463290" cy="60990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316" y="4152900"/>
            <a:ext cx="9582277" cy="609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" y="6515100"/>
            <a:ext cx="2454274" cy="6095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491331" y="9336323"/>
            <a:ext cx="833119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20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5000">
              <a:latin typeface="Trebuchet MS"/>
              <a:cs typeface="Trebuchet MS"/>
            </a:endParaRPr>
          </a:p>
        </p:txBody>
      </p:sp>
      <p:pic>
        <p:nvPicPr>
          <p:cNvPr id="11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53000" y="192842"/>
            <a:ext cx="6352032" cy="9870943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C86D411-B0C0-C4C2-E85E-CFE10F338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20705"/>
            <a:ext cx="124059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smart vehicle systems are vehicle-centric, not community-centric.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are expensive and limited to premium vehicles.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effective solution for parked vehicle incidents and post-event verification.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AC5FCE1-8E22-314F-9CAF-4A40DCF6D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6" y="4947291"/>
            <a:ext cx="1047113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on any vehicle, not only smart cars.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Community-driven verification instead of single-source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specifically for Indian road conditions.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E77D25-FA38-FD80-76A3-DB479A7EC53B}"/>
              </a:ext>
            </a:extLst>
          </p:cNvPr>
          <p:cNvSpPr txBox="1"/>
          <p:nvPr/>
        </p:nvSpPr>
        <p:spPr>
          <a:xfrm>
            <a:off x="623316" y="7213818"/>
            <a:ext cx="181218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Vehicles act as intelligent network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Collective problem-solving instead of isolated alerts.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Trust-based vehicular data sharing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distributed vehicular intelligence layer that enables vehicles to sense, reason, and collaborate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902" rIns="0" bIns="0" rtlCol="0">
            <a:spAutoFit/>
          </a:bodyPr>
          <a:lstStyle/>
          <a:p>
            <a:pPr marL="826135">
              <a:lnSpc>
                <a:spcPct val="100000"/>
              </a:lnSpc>
              <a:spcBef>
                <a:spcPts val="105"/>
              </a:spcBef>
            </a:pPr>
            <a:r>
              <a:rPr spc="185" dirty="0"/>
              <a:t>REAL</a:t>
            </a:r>
            <a:r>
              <a:rPr spc="-459" dirty="0"/>
              <a:t> </a:t>
            </a:r>
            <a:r>
              <a:rPr spc="215" dirty="0"/>
              <a:t>WORLD</a:t>
            </a:r>
            <a:r>
              <a:rPr spc="-455" dirty="0"/>
              <a:t> </a:t>
            </a:r>
            <a:r>
              <a:rPr spc="165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0713" y="0"/>
            <a:ext cx="17917286" cy="2553004"/>
            <a:chOff x="370713" y="0"/>
            <a:chExt cx="17917286" cy="25530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5" y="0"/>
              <a:ext cx="3742944" cy="2276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13" y="1943100"/>
              <a:ext cx="3744087" cy="60990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09600" y="416051"/>
            <a:ext cx="10800587" cy="9870943"/>
            <a:chOff x="609600" y="416051"/>
            <a:chExt cx="10800587" cy="9870943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5067300"/>
              <a:ext cx="1190624" cy="609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0200" y="5067300"/>
              <a:ext cx="417575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800" y="5067300"/>
              <a:ext cx="2537332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8155" y="416051"/>
              <a:ext cx="6352032" cy="987094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491331" y="9336323"/>
            <a:ext cx="833119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20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C4F9F32-94B1-DEB2-216C-39523E753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41" y="2628900"/>
            <a:ext cx="429155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commuters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authorities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Insurance companies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transport planners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450999D-A2B3-A50A-0D6A-2CA8956D3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868531"/>
            <a:ext cx="7543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traffic congestion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emergency response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accountability in accidents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Safer urban driving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road infrastructure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0"/>
            <a:ext cx="17830800" cy="10286995"/>
            <a:chOff x="457200" y="0"/>
            <a:chExt cx="17830800" cy="10286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6" y="0"/>
              <a:ext cx="3742944" cy="2276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866900"/>
              <a:ext cx="2630424" cy="609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4152900"/>
              <a:ext cx="2467610" cy="609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6438900"/>
              <a:ext cx="3672586" cy="609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3667" y="344424"/>
              <a:ext cx="6352032" cy="99425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476090" y="9336323"/>
            <a:ext cx="861694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320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6883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FEASIBILITY</a:t>
            </a:r>
            <a:r>
              <a:rPr spc="-470" dirty="0"/>
              <a:t> </a:t>
            </a:r>
            <a:r>
              <a:rPr spc="225" dirty="0"/>
              <a:t>&amp;</a:t>
            </a:r>
            <a:r>
              <a:rPr spc="-470" dirty="0"/>
              <a:t> </a:t>
            </a:r>
            <a:r>
              <a:rPr spc="85" dirty="0"/>
              <a:t>VIABILITY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8E80AEC-85D2-C0CF-4823-3F5BC78D9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84" y="2515581"/>
            <a:ext cx="920636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affordable sensors &amp; existing mobile infrastructure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installed as an add-on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dependency on vehicle manufacturer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5CEECED-8DDB-EC19-1357-6944DD383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9" y="4901505"/>
            <a:ext cx="748474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improves as more vehicles join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expand city-wise and nationally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integration with smart city platforms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BEEB535-AC3F-DDC3-988F-D65BC843A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07" y="7061418"/>
            <a:ext cx="868699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Partnership with automobile companies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Subscription-based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Partnerships with insurance &amp; transport departments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urban analytics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1"/>
            <a:ext cx="17907000" cy="9729774"/>
            <a:chOff x="381000" y="0"/>
            <a:chExt cx="17907000" cy="1006527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5056" y="0"/>
              <a:ext cx="3742944" cy="2276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2018996"/>
              <a:ext cx="8669528" cy="609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6057220"/>
              <a:ext cx="2635250" cy="609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600" y="230911"/>
              <a:ext cx="6352032" cy="983436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523335" y="9336323"/>
            <a:ext cx="769620" cy="79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75"/>
              </a:lnSpc>
            </a:pPr>
            <a:r>
              <a:rPr sz="5000" b="1" spc="-25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19175">
              <a:lnSpc>
                <a:spcPct val="100000"/>
              </a:lnSpc>
              <a:spcBef>
                <a:spcPts val="110"/>
              </a:spcBef>
            </a:pPr>
            <a:r>
              <a:rPr spc="135" dirty="0"/>
              <a:t>FUTURE</a:t>
            </a:r>
            <a:r>
              <a:rPr spc="-465" dirty="0"/>
              <a:t> </a:t>
            </a:r>
            <a:r>
              <a:rPr spc="380" dirty="0"/>
              <a:t>SCOPE</a:t>
            </a:r>
            <a:r>
              <a:rPr spc="-459" dirty="0"/>
              <a:t> </a:t>
            </a:r>
            <a:r>
              <a:rPr spc="225" dirty="0"/>
              <a:t>&amp;</a:t>
            </a:r>
            <a:r>
              <a:rPr spc="-484" dirty="0"/>
              <a:t> </a:t>
            </a:r>
            <a:r>
              <a:rPr spc="405" dirty="0"/>
              <a:t>ROADMAP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24B1A-1CDD-725E-E2DB-659B776DBCD7}"/>
              </a:ext>
            </a:extLst>
          </p:cNvPr>
          <p:cNvSpPr txBox="1"/>
          <p:nvPr/>
        </p:nvSpPr>
        <p:spPr>
          <a:xfrm>
            <a:off x="453513" y="6624291"/>
            <a:ext cx="17068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 err="1"/>
              <a:t>AutoNet</a:t>
            </a:r>
            <a:r>
              <a:rPr lang="en-US" sz="2800" dirty="0"/>
              <a:t> redefines road intelligence by shifting from isolated vehicle monitoring to community-driven collaboration. By enabling vehicles to collectively sense, verify, and respond to real-time road challenges, </a:t>
            </a:r>
            <a:r>
              <a:rPr lang="en-US" sz="2800" dirty="0" err="1"/>
              <a:t>AutoNet</a:t>
            </a:r>
            <a:r>
              <a:rPr lang="en-US" sz="2800" dirty="0"/>
              <a:t> lays the foundation for safer, smarter, and more accountable mobility </a:t>
            </a:r>
            <a:r>
              <a:rPr lang="en-US" sz="2800" dirty="0" err="1"/>
              <a:t>systems.a</a:t>
            </a:r>
            <a:endParaRPr lang="en-US" sz="28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08B5E48-3F24-E4B4-E7C8-B4A8930695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800" y="2720967"/>
            <a:ext cx="189738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traffic prediction &amp; congestion forecasting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health &amp; inactivity 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parking recommendations &amp; illegal parking pattern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theft detection &amp; recovery using RFID/key anomaly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monitoring (noise &amp; air pollution mapping)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Fleet management &amp; safety compliance for logistics companies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52B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695" y="515112"/>
            <a:ext cx="13886688" cy="9258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09615" y="4008247"/>
            <a:ext cx="5881370" cy="125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50" spc="310" dirty="0"/>
              <a:t>THANK</a:t>
            </a:r>
            <a:r>
              <a:rPr sz="8050" spc="-590" dirty="0"/>
              <a:t> </a:t>
            </a:r>
            <a:r>
              <a:rPr sz="8050" spc="185" dirty="0"/>
              <a:t>YOU</a:t>
            </a:r>
            <a:endParaRPr sz="8050"/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8288000" cy="3122930"/>
            <a:chOff x="0" y="0"/>
            <a:chExt cx="18288000" cy="312293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8288000" cy="1696720"/>
            </a:xfrm>
            <a:custGeom>
              <a:avLst/>
              <a:gdLst/>
              <a:ahLst/>
              <a:cxnLst/>
              <a:rect l="l" t="t" r="r" b="b"/>
              <a:pathLst>
                <a:path w="18288000" h="1696720">
                  <a:moveTo>
                    <a:pt x="0" y="1696211"/>
                  </a:moveTo>
                  <a:lnTo>
                    <a:pt x="18288000" y="169621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696211"/>
                  </a:lnTo>
                  <a:close/>
                </a:path>
              </a:pathLst>
            </a:custGeom>
            <a:solidFill>
              <a:srgbClr val="152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7216" y="0"/>
              <a:ext cx="5285232" cy="31226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2835" y="743712"/>
              <a:ext cx="4981956" cy="1234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602</Words>
  <Application>Microsoft Office PowerPoint</Application>
  <PresentationFormat>Custom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AutoNet Community Driven Intelligent Vehicle System</vt:lpstr>
      <vt:lpstr>PROBLEM STATEMENT</vt:lpstr>
      <vt:lpstr>PROPOSED SOLUTION</vt:lpstr>
      <vt:lpstr>TECH STACK</vt:lpstr>
      <vt:lpstr>UNIQUE SELLING PROPOSITION</vt:lpstr>
      <vt:lpstr>REAL WORLD APPLICATION</vt:lpstr>
      <vt:lpstr>FEASIBILITY &amp; VIABILITY</vt:lpstr>
      <vt:lpstr>FUTURE SCOPE &amp;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Bruce Wayne</cp:lastModifiedBy>
  <cp:revision>6</cp:revision>
  <cp:lastPrinted>2026-02-08T13:51:10Z</cp:lastPrinted>
  <dcterms:created xsi:type="dcterms:W3CDTF">2026-02-08T07:27:32Z</dcterms:created>
  <dcterms:modified xsi:type="dcterms:W3CDTF">2026-02-24T10:48:23Z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2026-02-08T00:00:00Z</vt:filetime>
  </property>
  <property fmtid="{D5CDD505-2E9C-101B-9397-08002B2CF9AE}" pid="5" name="Producer">
    <vt:lpwstr>www.ilovepdf.com</vt:lpwstr>
  </property>
</Properties>
</file>